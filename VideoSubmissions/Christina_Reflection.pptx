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a Lamparter" userId="40358b886b8e0720" providerId="LiveId" clId="{CFCDC4DE-DDDB-4FA3-9B9F-37E9D6569BE1}"/>
    <pc:docChg chg="modSld">
      <pc:chgData name="Christina Lamparter" userId="40358b886b8e0720" providerId="LiveId" clId="{CFCDC4DE-DDDB-4FA3-9B9F-37E9D6569BE1}" dt="2025-11-17T03:00:11.995" v="1" actId="14100"/>
      <pc:docMkLst>
        <pc:docMk/>
      </pc:docMkLst>
      <pc:sldChg chg="modSp mod">
        <pc:chgData name="Christina Lamparter" userId="40358b886b8e0720" providerId="LiveId" clId="{CFCDC4DE-DDDB-4FA3-9B9F-37E9D6569BE1}" dt="2025-11-17T03:00:11.995" v="1" actId="14100"/>
        <pc:sldMkLst>
          <pc:docMk/>
          <pc:sldMk cId="0" sldId="257"/>
        </pc:sldMkLst>
        <pc:picChg chg="mod">
          <ac:chgData name="Christina Lamparter" userId="40358b886b8e0720" providerId="LiveId" clId="{CFCDC4DE-DDDB-4FA3-9B9F-37E9D6569BE1}" dt="2025-11-17T03:00:11.995" v="1" actId="14100"/>
          <ac:picMkLst>
            <pc:docMk/>
            <pc:sldMk cId="0" sldId="257"/>
            <ac:picMk id="2" creationId="{059BAFD0-7AE9-BFE2-347E-90C99F3DE8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08F1-F11D-1BE0-2E8A-E2163D3CB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2AB63-042A-AD0B-7724-8E26E3061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9A2D1-327C-C2D2-5A03-4F593DAE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243AD-30F8-55B3-6DFD-F6038FD5F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90FA4-784C-B670-DBBA-1270B96F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551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F7C59-5D45-AAF7-0CE1-BD42E9BA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46246-6197-B815-FC5F-E8A90D169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57C2E-2174-5EED-76CA-D74E5E6F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BD251-59C7-C437-3BA2-E9094699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A81B0-6540-5FD4-969F-AA9151FB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80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16E9-C107-E62D-3C69-04AB8261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68CAA-6EB1-1E7D-0055-BC9994864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13216-E438-7150-FC39-D5A18FAB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5DED3-8DC7-8A06-E70F-29D980B18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45BC-9F41-63EC-8256-960FFB51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481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B50A-DD3E-25C6-CA51-6DE17798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F81E8-26CC-E5D8-1812-5F38D371E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500BA-C765-5280-90BF-B7D318D14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A0891-821F-2347-B325-9B5C090F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BEBFB-360A-4487-F525-21F01CC3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E1B5D-EF66-46DB-43D9-3C67BBC4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0243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AE5E-C072-533E-EEDA-1BB66293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B436E-1218-CC8F-5A6B-23FBB2430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8CD6B-7484-FAAD-A29A-5244A46AE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4E9CD-8E78-80D9-81A1-956004245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65B6C-6A3F-250E-CE22-7AE5B6ADA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4001A0-146A-0524-5194-A9B9B077C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6E38F-2AF3-A4FC-66BD-1311A7A7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A1205-7BF7-73D4-556B-D53B2941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834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89DA-E6F2-373A-1F19-BD381539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14037-478E-1F1C-9BD8-EFA9893C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266A0-E8AD-8488-CD86-B3DABE1CF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7F64C-7B23-F406-7A71-643859CE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010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0768-30F1-DC37-7B7B-03CC6D6B1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66B42-114B-7192-E5AC-9CB0980B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215E-8E27-9DC0-2894-6725DAD3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185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E9FD-AD04-360A-42E2-FD371C1E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458EA-A091-A890-39EF-AA3D89B7D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8B2B6-9358-E844-2958-05F79806B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442AC-274F-E86E-AC4B-D2F89669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6741E-BAF3-10CE-1FD9-B72A4C60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71D1C-DE79-4899-8A01-4357F505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367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CD560-2C58-0DF3-85FF-6292B5A71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5A35F-02A4-728D-DD3D-74E222AD6D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3D618-32CE-167D-A9CF-F4487A18C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76F99-00C8-72EF-5709-CE1E19B1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A1048-B3FC-252E-F788-6FC7842C5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E115E-719D-085F-C334-E1D75459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270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A67D-C705-5254-2741-88E6A85E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0CFA2-D31E-B627-F251-B7E66ED17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CD0BB-7E78-9951-F2C1-D987BE63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8DF3D-C65C-693F-5072-35BF9F2AC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6C40F-05E4-C45B-3DB2-712B5FD1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77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31C693-400A-F164-F303-315E29FBE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76E91-075F-94F4-C16A-7538381B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DA9BE-184E-43C8-BE10-61164133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C5CB9-C5AA-3D0A-8DDB-48EC9DDA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55546-27A0-9C32-C12A-17C2547E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360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40080" y="2633472"/>
            <a:ext cx="5212080" cy="356616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323025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657C3-A803-A733-07F1-84626DF4E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C1DB2-03B4-ACC7-7558-A16EA1B62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396D9-57FF-D349-1D32-D1C555C94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9017C-5F39-4764-9057-0D5580DAFB4F}" type="datetimeFigureOut">
              <a:rPr lang="en-CA" smtClean="0"/>
              <a:t>2025-11-16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B9E65-D936-00BA-708C-884616898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7BBFA-0D79-AC6C-848A-5C620F8CF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1BAE6-18CB-4C10-AE9C-19A34B1FF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901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audio" Target="../media/media1.m4a"/><Relationship Id="rId16" Type="http://schemas.openxmlformats.org/officeDocument/2006/relationships/image" Target="../media/image13.png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: Rounded Corners 16"/>
          <p:cNvSpPr/>
          <p:nvPr/>
        </p:nvSpPr>
        <p:spPr>
          <a:xfrm>
            <a:off x="4339354" y="2117558"/>
            <a:ext cx="3132292" cy="2804392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9050">
            <a:solidFill>
              <a:srgbClr val="0070C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7" name="Title 1"/>
          <p:cNvSpPr txBox="1">
            <a:spLocks noGrp="1"/>
          </p:cNvSpPr>
          <p:nvPr>
            <p:ph type="title"/>
          </p:nvPr>
        </p:nvSpPr>
        <p:spPr>
          <a:xfrm>
            <a:off x="640078" y="281838"/>
            <a:ext cx="10890931" cy="1097282"/>
          </a:xfrm>
          <a:prstGeom prst="rect">
            <a:avLst/>
          </a:prstGeom>
        </p:spPr>
        <p:txBody>
          <a:bodyPr/>
          <a:lstStyle/>
          <a:p>
            <a:r>
              <a:t>ML-9 Team Project: Stroke Prediction</a:t>
            </a:r>
          </a:p>
        </p:txBody>
      </p:sp>
      <p:sp>
        <p:nvSpPr>
          <p:cNvPr id="128" name="Content Placeholder 5"/>
          <p:cNvSpPr txBox="1">
            <a:spLocks noGrp="1"/>
          </p:cNvSpPr>
          <p:nvPr>
            <p:ph type="body" sz="quarter" idx="1"/>
          </p:nvPr>
        </p:nvSpPr>
        <p:spPr>
          <a:xfrm>
            <a:off x="530351" y="1587400"/>
            <a:ext cx="1842256" cy="500583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b="1"/>
            </a:lvl1pPr>
          </a:lstStyle>
          <a:p>
            <a:r>
              <a:t>Dataset</a:t>
            </a:r>
          </a:p>
        </p:txBody>
      </p:sp>
      <p:grpSp>
        <p:nvGrpSpPr>
          <p:cNvPr id="131" name="Group 15"/>
          <p:cNvGrpSpPr/>
          <p:nvPr/>
        </p:nvGrpSpPr>
        <p:grpSpPr>
          <a:xfrm>
            <a:off x="3456437" y="5250631"/>
            <a:ext cx="586767" cy="695926"/>
            <a:chOff x="0" y="0"/>
            <a:chExt cx="586765" cy="695925"/>
          </a:xfrm>
        </p:grpSpPr>
        <p:pic>
          <p:nvPicPr>
            <p:cNvPr id="129" name="Graphic 12" descr="Graphic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586766" cy="6959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" name="Graphic 14" descr="Graphic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161" y="167813"/>
              <a:ext cx="405751" cy="4812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2" name="Content Placeholder 5"/>
          <p:cNvSpPr txBox="1"/>
          <p:nvPr/>
        </p:nvSpPr>
        <p:spPr>
          <a:xfrm>
            <a:off x="576071" y="2020249"/>
            <a:ext cx="3426125" cy="2052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>
              <a:lnSpc>
                <a:spcPct val="120000"/>
              </a:lnSpc>
              <a:defRPr sz="1900"/>
            </a:pPr>
            <a:r>
              <a:t>11 features, 5110 records:</a:t>
            </a:r>
            <a:endParaRPr sz="2000"/>
          </a:p>
          <a:p>
            <a:pPr marL="228600" indent="-228600">
              <a:lnSpc>
                <a:spcPct val="120000"/>
              </a:lnSpc>
              <a:buSzPct val="87000"/>
              <a:buChar char="✓"/>
              <a:defRPr sz="1600"/>
            </a:pPr>
            <a:r>
              <a:t>Demographic </a:t>
            </a:r>
            <a:endParaRPr sz="2000"/>
          </a:p>
          <a:p>
            <a:pPr marL="228600" indent="-228600">
              <a:lnSpc>
                <a:spcPct val="120000"/>
              </a:lnSpc>
              <a:buSzPct val="87000"/>
              <a:buChar char="✓"/>
              <a:defRPr sz="1600"/>
            </a:pPr>
            <a:r>
              <a:t>Residence type</a:t>
            </a:r>
          </a:p>
          <a:p>
            <a:pPr marL="228600" indent="-228600">
              <a:lnSpc>
                <a:spcPct val="120000"/>
              </a:lnSpc>
              <a:buSzPct val="87000"/>
              <a:buChar char="✓"/>
              <a:defRPr sz="1600"/>
            </a:pPr>
            <a:r>
              <a:t>Health indicators</a:t>
            </a:r>
            <a:endParaRPr sz="2000"/>
          </a:p>
          <a:p>
            <a:pPr marL="228600" indent="-228600">
              <a:lnSpc>
                <a:spcPct val="120000"/>
              </a:lnSpc>
              <a:buSzPct val="87000"/>
              <a:buChar char="✓"/>
              <a:defRPr sz="1600"/>
            </a:pPr>
            <a:r>
              <a:t>Socioeconomic</a:t>
            </a:r>
            <a:endParaRPr sz="2000"/>
          </a:p>
          <a:p>
            <a:pPr marL="228600" indent="-228600">
              <a:lnSpc>
                <a:spcPct val="120000"/>
              </a:lnSpc>
              <a:buSzPct val="87000"/>
              <a:buChar char="✓"/>
              <a:defRPr sz="1600"/>
            </a:pPr>
            <a:r>
              <a:t>Stroke occurrence</a:t>
            </a:r>
          </a:p>
        </p:txBody>
      </p:sp>
      <p:sp>
        <p:nvSpPr>
          <p:cNvPr id="133" name="Content Placeholder 5"/>
          <p:cNvSpPr txBox="1"/>
          <p:nvPr/>
        </p:nvSpPr>
        <p:spPr>
          <a:xfrm>
            <a:off x="704087" y="4662291"/>
            <a:ext cx="1750816" cy="500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000" b="1"/>
            </a:lvl1pPr>
          </a:lstStyle>
          <a:p>
            <a:r>
              <a:t>Aims</a:t>
            </a:r>
          </a:p>
        </p:txBody>
      </p:sp>
      <p:pic>
        <p:nvPicPr>
          <p:cNvPr id="134" name="Graphic 44" descr="Graphic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352012" y="4142652"/>
            <a:ext cx="914401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Graphic 45" descr="Graphic 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771242">
            <a:off x="7700374" y="4197275"/>
            <a:ext cx="914401" cy="914401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Content Placeholder 5"/>
          <p:cNvSpPr txBox="1"/>
          <p:nvPr/>
        </p:nvSpPr>
        <p:spPr>
          <a:xfrm>
            <a:off x="8487876" y="1587400"/>
            <a:ext cx="2997412" cy="500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000" b="1"/>
            </a:lvl1pPr>
          </a:lstStyle>
          <a:p>
            <a:r>
              <a:t>Risks &amp; Unknowns</a:t>
            </a:r>
          </a:p>
        </p:txBody>
      </p:sp>
      <p:sp>
        <p:nvSpPr>
          <p:cNvPr id="137" name="Content Placeholder 5"/>
          <p:cNvSpPr txBox="1"/>
          <p:nvPr/>
        </p:nvSpPr>
        <p:spPr>
          <a:xfrm>
            <a:off x="8432525" y="2020249"/>
            <a:ext cx="3637423" cy="1263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150000"/>
              </a:lnSpc>
              <a:buSzPct val="87000"/>
              <a:buFont typeface="Arial"/>
              <a:buChar char="•"/>
              <a:defRPr sz="1500"/>
            </a:pPr>
            <a:r>
              <a:t>Class imbalance (limited stroke data)</a:t>
            </a:r>
            <a:endParaRPr sz="2000"/>
          </a:p>
          <a:p>
            <a:pPr marL="228600" indent="-228600">
              <a:lnSpc>
                <a:spcPct val="150000"/>
              </a:lnSpc>
              <a:buSzPct val="87000"/>
              <a:buFont typeface="Arial"/>
              <a:buChar char="•"/>
              <a:defRPr sz="1500"/>
            </a:pPr>
            <a:r>
              <a:t>Missing data, general quality</a:t>
            </a:r>
            <a:endParaRPr sz="2000"/>
          </a:p>
          <a:p>
            <a:pPr marL="228600" indent="-228600">
              <a:lnSpc>
                <a:spcPct val="150000"/>
              </a:lnSpc>
              <a:buSzPct val="87000"/>
              <a:buFont typeface="Arial"/>
              <a:buChar char="•"/>
              <a:defRPr sz="1500"/>
            </a:pPr>
            <a:r>
              <a:t>Generalizability</a:t>
            </a:r>
            <a:endParaRPr sz="2000"/>
          </a:p>
          <a:p>
            <a:pPr marL="228600" indent="-228600">
              <a:lnSpc>
                <a:spcPct val="150000"/>
              </a:lnSpc>
              <a:buSzPct val="87000"/>
              <a:buFont typeface="Arial"/>
              <a:buChar char="•"/>
              <a:defRPr sz="1500"/>
            </a:pPr>
            <a:r>
              <a:t>Model complexity</a:t>
            </a:r>
          </a:p>
        </p:txBody>
      </p:sp>
      <p:sp>
        <p:nvSpPr>
          <p:cNvPr id="138" name="Content Placeholder 5"/>
          <p:cNvSpPr txBox="1"/>
          <p:nvPr/>
        </p:nvSpPr>
        <p:spPr>
          <a:xfrm>
            <a:off x="8679211" y="4557162"/>
            <a:ext cx="3141533" cy="500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000" b="1"/>
            </a:lvl1pPr>
          </a:lstStyle>
          <a:p>
            <a:r>
              <a:t>Outcomes</a:t>
            </a:r>
          </a:p>
        </p:txBody>
      </p:sp>
      <p:pic>
        <p:nvPicPr>
          <p:cNvPr id="139" name="Graphic 6" descr="Graphic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123" y="5250631"/>
            <a:ext cx="695927" cy="695926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extBox 11"/>
          <p:cNvSpPr txBox="1"/>
          <p:nvPr/>
        </p:nvSpPr>
        <p:spPr>
          <a:xfrm>
            <a:off x="102258" y="6007858"/>
            <a:ext cx="1075641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r>
              <a:t>Baseline models</a:t>
            </a:r>
          </a:p>
        </p:txBody>
      </p:sp>
      <p:sp>
        <p:nvSpPr>
          <p:cNvPr id="141" name="TextBox 13"/>
          <p:cNvSpPr txBox="1"/>
          <p:nvPr/>
        </p:nvSpPr>
        <p:spPr>
          <a:xfrm>
            <a:off x="3128195" y="6007858"/>
            <a:ext cx="1321098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r>
              <a:t>Identify key indicators</a:t>
            </a:r>
          </a:p>
        </p:txBody>
      </p:sp>
      <p:sp>
        <p:nvSpPr>
          <p:cNvPr id="142" name="TextBox 7"/>
          <p:cNvSpPr txBox="1"/>
          <p:nvPr/>
        </p:nvSpPr>
        <p:spPr>
          <a:xfrm>
            <a:off x="4533551" y="2117560"/>
            <a:ext cx="2712971" cy="792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b="1">
                <a:solidFill>
                  <a:srgbClr val="FFFFFF"/>
                </a:solidFill>
              </a:defRPr>
            </a:lvl1pPr>
          </a:lstStyle>
          <a:p>
            <a:r>
              <a:t> Techniques &amp; Technologies</a:t>
            </a:r>
          </a:p>
        </p:txBody>
      </p:sp>
      <p:sp>
        <p:nvSpPr>
          <p:cNvPr id="143" name="TextBox 22"/>
          <p:cNvSpPr txBox="1"/>
          <p:nvPr/>
        </p:nvSpPr>
        <p:spPr>
          <a:xfrm>
            <a:off x="2018044" y="6007858"/>
            <a:ext cx="1321098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r>
              <a:t>Evaluation metrics</a:t>
            </a:r>
          </a:p>
        </p:txBody>
      </p:sp>
      <p:pic>
        <p:nvPicPr>
          <p:cNvPr id="144" name="Graphic 32" descr="Graphic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9215" y="5305211"/>
            <a:ext cx="586767" cy="5867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Graphic 34" descr="Graphic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4107" y="5204226"/>
            <a:ext cx="788735" cy="788735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TextBox 37"/>
          <p:cNvSpPr txBox="1"/>
          <p:nvPr/>
        </p:nvSpPr>
        <p:spPr>
          <a:xfrm>
            <a:off x="1057881" y="6007858"/>
            <a:ext cx="107564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r>
              <a:t>Neural networks</a:t>
            </a:r>
          </a:p>
        </p:txBody>
      </p:sp>
      <p:pic>
        <p:nvPicPr>
          <p:cNvPr id="147" name="Graphic 50" descr="Graphic 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0574" y="5250631"/>
            <a:ext cx="695927" cy="695926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TextBox 51"/>
          <p:cNvSpPr txBox="1"/>
          <p:nvPr/>
        </p:nvSpPr>
        <p:spPr>
          <a:xfrm>
            <a:off x="9062548" y="6007858"/>
            <a:ext cx="107564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r>
              <a:t>Targeted screening</a:t>
            </a:r>
          </a:p>
        </p:txBody>
      </p:sp>
      <p:sp>
        <p:nvSpPr>
          <p:cNvPr id="149" name="TextBox 52"/>
          <p:cNvSpPr txBox="1"/>
          <p:nvPr/>
        </p:nvSpPr>
        <p:spPr>
          <a:xfrm>
            <a:off x="11082609" y="6007858"/>
            <a:ext cx="107564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r>
              <a:t>Prioritize care</a:t>
            </a:r>
          </a:p>
        </p:txBody>
      </p:sp>
      <p:sp>
        <p:nvSpPr>
          <p:cNvPr id="150" name="TextBox 53"/>
          <p:cNvSpPr txBox="1"/>
          <p:nvPr/>
        </p:nvSpPr>
        <p:spPr>
          <a:xfrm>
            <a:off x="10067816" y="6007858"/>
            <a:ext cx="107564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r>
              <a:t>Actionable insight</a:t>
            </a:r>
          </a:p>
        </p:txBody>
      </p:sp>
      <p:sp>
        <p:nvSpPr>
          <p:cNvPr id="151" name="TextBox 54"/>
          <p:cNvSpPr txBox="1"/>
          <p:nvPr/>
        </p:nvSpPr>
        <p:spPr>
          <a:xfrm>
            <a:off x="7859450" y="6007858"/>
            <a:ext cx="1321098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r>
              <a:t>Stroke-risk model</a:t>
            </a:r>
          </a:p>
        </p:txBody>
      </p:sp>
      <p:pic>
        <p:nvPicPr>
          <p:cNvPr id="152" name="Graphic 58" descr="Graphic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3417" y="5252542"/>
            <a:ext cx="692105" cy="692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Graphic 63" descr="Graphic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47213" y="5306292"/>
            <a:ext cx="584606" cy="5846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Graphic 65" descr="Graphic 6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74332" y="5259649"/>
            <a:ext cx="677891" cy="677891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Box 72"/>
          <p:cNvSpPr txBox="1"/>
          <p:nvPr/>
        </p:nvSpPr>
        <p:spPr>
          <a:xfrm>
            <a:off x="4307717" y="3606717"/>
            <a:ext cx="1075642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r>
              <a:t>Logistic Regression</a:t>
            </a:r>
          </a:p>
        </p:txBody>
      </p:sp>
      <p:sp>
        <p:nvSpPr>
          <p:cNvPr id="156" name="TextBox 73"/>
          <p:cNvSpPr txBox="1"/>
          <p:nvPr/>
        </p:nvSpPr>
        <p:spPr>
          <a:xfrm>
            <a:off x="6223504" y="3606717"/>
            <a:ext cx="1321098" cy="732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r>
              <a:t>Neural Network (FCNN)</a:t>
            </a:r>
          </a:p>
        </p:txBody>
      </p:sp>
      <p:sp>
        <p:nvSpPr>
          <p:cNvPr id="157" name="TextBox 74"/>
          <p:cNvSpPr txBox="1"/>
          <p:nvPr/>
        </p:nvSpPr>
        <p:spPr>
          <a:xfrm>
            <a:off x="5349066" y="3606717"/>
            <a:ext cx="1075642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r>
              <a:t>Random Forest</a:t>
            </a:r>
          </a:p>
        </p:txBody>
      </p:sp>
      <p:pic>
        <p:nvPicPr>
          <p:cNvPr id="158" name="Graphic 76" descr="Graphic 7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725" y="2898157"/>
            <a:ext cx="830999" cy="8309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Graphic 78" descr="Graphic 7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43550" y="2970161"/>
            <a:ext cx="706488" cy="706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Graphic 80" descr="Graphic 8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6438" y="2939949"/>
            <a:ext cx="706489" cy="706489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TextBox 81"/>
          <p:cNvSpPr txBox="1"/>
          <p:nvPr/>
        </p:nvSpPr>
        <p:spPr>
          <a:xfrm>
            <a:off x="4641828" y="4430704"/>
            <a:ext cx="2329999" cy="44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200">
                <a:solidFill>
                  <a:srgbClr val="FFFFFF"/>
                </a:solidFill>
              </a:defRPr>
            </a:pPr>
            <a:r>
              <a:t>Parameter tuning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solidFill>
                  <a:srgbClr val="FFFFFF"/>
                </a:solidFill>
              </a:defRPr>
            </a:pPr>
            <a:r>
              <a:t>Regularization </a:t>
            </a:r>
          </a:p>
        </p:txBody>
      </p:sp>
      <p:sp>
        <p:nvSpPr>
          <p:cNvPr id="162" name="TextBox 83"/>
          <p:cNvSpPr txBox="1"/>
          <p:nvPr/>
        </p:nvSpPr>
        <p:spPr>
          <a:xfrm>
            <a:off x="6138756" y="4448059"/>
            <a:ext cx="1106706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marL="171450" indent="-171450">
              <a:buSzPct val="100000"/>
              <a:buFont typeface="Arial"/>
              <a:buChar char="•"/>
              <a:defRPr sz="1200">
                <a:solidFill>
                  <a:srgbClr val="FFFFFF"/>
                </a:solidFill>
              </a:defRPr>
            </a:lvl1pPr>
          </a:lstStyle>
          <a:p>
            <a:r>
              <a:t>Cross-validation</a:t>
            </a:r>
          </a:p>
        </p:txBody>
      </p:sp>
      <p:pic>
        <p:nvPicPr>
          <p:cNvPr id="2" name="Christina_Reflection">
            <a:hlinkClick r:id="" action="ppaction://media"/>
            <a:extLst>
              <a:ext uri="{FF2B5EF4-FFF2-40B4-BE49-F238E27FC236}">
                <a16:creationId xmlns:a16="http://schemas.microsoft.com/office/drawing/2014/main" id="{059BAFD0-7AE9-BFE2-347E-90C99F3DE8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0931820" y="381299"/>
            <a:ext cx="731556" cy="731556"/>
          </a:xfrm>
          <a:prstGeom prst="rect">
            <a:avLst/>
          </a:prstGeom>
        </p:spPr>
      </p:pic>
    </p:spTree>
  </p:cSld>
  <p:clrMapOvr>
    <a:masterClrMapping/>
  </p:clrMapOvr>
  <p:transition spd="med" advTm="2394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945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</Words>
  <Application>Microsoft Office PowerPoint</Application>
  <PresentationFormat>Widescreen</PresentationFormat>
  <Paragraphs>30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ML-9 Team Project: Stroke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Lamparter</dc:creator>
  <cp:lastModifiedBy>Christina Lamparter</cp:lastModifiedBy>
  <cp:revision>1</cp:revision>
  <dcterms:created xsi:type="dcterms:W3CDTF">2025-11-17T02:53:07Z</dcterms:created>
  <dcterms:modified xsi:type="dcterms:W3CDTF">2025-11-17T03:00:14Z</dcterms:modified>
</cp:coreProperties>
</file>